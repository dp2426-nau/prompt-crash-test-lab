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7" d="100"/>
          <a:sy n="87" d="100"/>
        </p:scale>
        <p:origin x="1330" y="6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723207" y="2286000"/>
            <a:ext cx="5697585" cy="1046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99"/>
                </a:solidFill>
              </a:defRPr>
            </a:pPr>
            <a:r>
              <a:rPr dirty="0"/>
              <a:t>Prompt Crash-Test Lab</a:t>
            </a:r>
          </a:p>
          <a:p>
            <a:r>
              <a:rPr lang="en-US" dirty="0"/>
              <a:t>		</a:t>
            </a:r>
            <a:r>
              <a:rPr dirty="0"/>
              <a:t>LLM Robustness Benchmark Framework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80964" y="3474720"/>
            <a:ext cx="4982069" cy="18466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2962FF"/>
                </a:solidFill>
              </a:defRPr>
            </a:pPr>
            <a:endParaRPr lang="en-US" dirty="0"/>
          </a:p>
          <a:p>
            <a:pPr algn="ctr">
              <a:defRPr sz="2400">
                <a:solidFill>
                  <a:srgbClr val="2962FF"/>
                </a:solidFill>
              </a:defRPr>
            </a:pPr>
            <a:endParaRPr lang="en-US" dirty="0"/>
          </a:p>
          <a:p>
            <a:pPr algn="ctr">
              <a:defRPr sz="2400">
                <a:solidFill>
                  <a:srgbClr val="2962FF"/>
                </a:solidFill>
              </a:defRPr>
            </a:pPr>
            <a:endParaRPr lang="en-US" dirty="0"/>
          </a:p>
          <a:p>
            <a:pPr algn="ctr">
              <a:defRPr sz="2400">
                <a:solidFill>
                  <a:srgbClr val="2962FF"/>
                </a:solidFill>
              </a:defRPr>
            </a:pPr>
            <a:r>
              <a:rPr dirty="0"/>
              <a:t>CS 599 Contemporary Developments</a:t>
            </a:r>
          </a:p>
          <a:p>
            <a:r>
              <a:rPr lang="en-US" dirty="0"/>
              <a:t>	</a:t>
            </a:r>
            <a:r>
              <a:rPr dirty="0"/>
              <a:t>Applications of Large Language Models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99"/>
                </a:solidFill>
              </a:defRPr>
            </a:pPr>
            <a:r>
              <a:t>Motivation: Background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Large Language Models (LLMs) power critical applications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Medical diagnosis, legal analysis, financial decisions</a:t>
            </a:r>
            <a:endParaRPr lang="en-US" dirty="0"/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b="1" dirty="0"/>
              <a:t>Challenge: </a:t>
            </a:r>
            <a:r>
              <a:rPr dirty="0"/>
              <a:t>Output inconsistency from minor prompt changes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Same question, different phrasing = different answers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Formatting variations cause unpredictable behavior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b="1" dirty="0"/>
              <a:t>Impact on business and users: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Loss of trust in AI systems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Compliance and regulatory risks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Increased operational costs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99"/>
                </a:solidFill>
              </a:defRPr>
            </a:pPr>
            <a:r>
              <a:t>Motivation: The Critical Gap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468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b="1" dirty="0"/>
              <a:t>Current state of LLM testing: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No standardized robustness benchmarks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Manual testing is time-consuming and incomplete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Limited understanding of failure patterns</a:t>
            </a:r>
            <a:endParaRPr lang="en-US" dirty="0"/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b="1" dirty="0"/>
              <a:t>Industry needs: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Systematic approach to measure reliability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Automated testing frameworks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Data-driven model selection criteria</a:t>
            </a:r>
            <a:endParaRPr lang="en-US" dirty="0"/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This project addresses the gap between LLM capabilities</a:t>
            </a:r>
            <a:r>
              <a:rPr lang="en-US" dirty="0"/>
              <a:t> </a:t>
            </a:r>
            <a:r>
              <a:rPr dirty="0"/>
              <a:t>and production-grade reliability requirements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99"/>
                </a:solidFill>
              </a:defRPr>
            </a:pPr>
            <a:r>
              <a:t>Project Objectives and Goals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191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Primary Objectives: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1. Develop reproducible robustness benchmark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Standardized test suite for LLM consistency evaluation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2. Automate prompt variant generation and testing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Systematic exploration of prompt space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3. Identify and categorize failure patterns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Understand what causes inconsistent outputs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4. Establish best practices for robust prompting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Actionable guidelines for practitioners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5. Enable data-driven model selection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Quantitative comparison across LLM providers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99"/>
                </a:solidFill>
              </a:defRPr>
            </a:pPr>
            <a:r>
              <a:t>Project Scope</a:t>
            </a:r>
          </a:p>
        </p:txBody>
      </p:sp>
      <p:pic>
        <p:nvPicPr>
          <p:cNvPr id="3" name="Picture 2" descr="tmp_rovodev_sco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863840" cy="39319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646464"/>
                </a:solidFill>
              </a:defRPr>
            </a:pPr>
            <a:r>
              <a:t>Clear boundaries for focused execution within timeline and budget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99"/>
                </a:solidFill>
              </a:defRPr>
            </a:pPr>
            <a:r>
              <a:t>Tools, Techniques, and Frameworks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191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b="1" dirty="0"/>
              <a:t>Core Technologies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Programming Language: Python 3.11+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LLM Framework: </a:t>
            </a:r>
            <a:r>
              <a:rPr dirty="0" err="1"/>
              <a:t>LangChain</a:t>
            </a:r>
            <a:r>
              <a:rPr dirty="0"/>
              <a:t> for orchestration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Semantic Analysis: sentence-transformers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Storage: SQLite for caching and reproducibility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b="1" dirty="0"/>
              <a:t>LLMs and Infrastructure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Model APIs: OpenAI (GPT-4), Anthropic (Claude 3.5)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Google (Gemini 1.5 Pro), Together AI (Llama 3.1 70B</a:t>
            </a:r>
            <a:r>
              <a:rPr lang="en-US" dirty="0"/>
              <a:t>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lang="en-US" dirty="0"/>
              <a:t>  Visualization: </a:t>
            </a:r>
            <a:r>
              <a:rPr lang="en-US" dirty="0" err="1"/>
              <a:t>Streamlit</a:t>
            </a:r>
            <a:r>
              <a:rPr lang="en-US" dirty="0"/>
              <a:t> dashboard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Development: Git version control, </a:t>
            </a:r>
            <a:r>
              <a:rPr dirty="0" err="1"/>
              <a:t>Jupyter</a:t>
            </a:r>
            <a:r>
              <a:rPr dirty="0"/>
              <a:t> notebooks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99"/>
                </a:solidFill>
              </a:defRPr>
            </a:pPr>
            <a:r>
              <a:t>System Architecture</a:t>
            </a:r>
          </a:p>
        </p:txBody>
      </p:sp>
      <p:pic>
        <p:nvPicPr>
          <p:cNvPr id="3" name="Picture 2" descr="tmp_rovodev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863840" cy="5242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9741" y="621792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646464"/>
                </a:solidFill>
              </a:defRPr>
            </a:pPr>
            <a:r>
              <a:rPr dirty="0"/>
              <a:t>End-to-end pipeline from variant generation to reporting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99"/>
                </a:solidFill>
              </a:defRPr>
            </a:pPr>
            <a:r>
              <a:t>Testing Workflow and Timeline</a:t>
            </a:r>
          </a:p>
        </p:txBody>
      </p:sp>
      <p:pic>
        <p:nvPicPr>
          <p:cNvPr id="3" name="Picture 2" descr="tmp_rovodev_work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86384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99"/>
                </a:solidFill>
              </a:defRPr>
            </a:pPr>
            <a:r>
              <a:t>Robustness Metrics Framework</a:t>
            </a:r>
          </a:p>
        </p:txBody>
      </p:sp>
      <p:pic>
        <p:nvPicPr>
          <p:cNvPr id="3" name="Picture 2" descr="tmp_rovodev_metric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71600"/>
            <a:ext cx="7863840" cy="458724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594360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646464"/>
                </a:solidFill>
              </a:defRPr>
            </a:pPr>
            <a:r>
              <a:t>Comprehensive evaluation across multiple dimensions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99"/>
                </a:solidFill>
              </a:defRPr>
            </a:pPr>
            <a:r>
              <a:t>Expected Outcomes and Deliverables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b="1" dirty="0"/>
              <a:t>Deliverables: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1. Benchmark Dataset: 300+ prompts, 6,000 test cases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2. Testing Framework: Python package with automation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3. Interactive Dashboard: </a:t>
            </a:r>
            <a:r>
              <a:rPr dirty="0" err="1"/>
              <a:t>Streamlit</a:t>
            </a:r>
            <a:r>
              <a:rPr dirty="0"/>
              <a:t> visualization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4. Technical Report: Comprehensive findings and best practices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b="1" dirty="0"/>
              <a:t>Timeline: </a:t>
            </a:r>
            <a:r>
              <a:rPr dirty="0"/>
              <a:t>4 weeks total with weekly milestones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endParaRPr dirty="0"/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b="1" dirty="0"/>
              <a:t>Budget: </a:t>
            </a:r>
            <a:r>
              <a:rPr dirty="0"/>
              <a:t>Estimated $50 for API usage fees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Optimized with caching and free tier utilization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99"/>
                </a:solidFill>
              </a:defRPr>
            </a:pPr>
            <a:r>
              <a:t>Key Milestones and Phases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6733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b="1" dirty="0"/>
              <a:t>Phase 1: </a:t>
            </a:r>
            <a:r>
              <a:rPr dirty="0"/>
              <a:t>Dataset Preparation (Week 1)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Collect and curate base prompts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Implement variant generation logic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b="1" dirty="0"/>
              <a:t>Phase 2: </a:t>
            </a:r>
            <a:r>
              <a:rPr dirty="0"/>
              <a:t>Framework Development (Week 2)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Build API executor with rate limiting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Implement metric calculation engine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b="1" dirty="0"/>
              <a:t>Phase 3: </a:t>
            </a:r>
            <a:r>
              <a:rPr dirty="0"/>
              <a:t>Testing and Evaluation (Week 3)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Execute full test suite across 4 models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Collect and analyze results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b="1" dirty="0"/>
              <a:t>Phase 4: </a:t>
            </a:r>
            <a:r>
              <a:rPr dirty="0"/>
              <a:t>Reporting and Visualization (Week 4)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Develop </a:t>
            </a:r>
            <a:r>
              <a:rPr dirty="0" err="1"/>
              <a:t>Streamlit</a:t>
            </a:r>
            <a:r>
              <a:rPr dirty="0"/>
              <a:t> dashboard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  Write technical report with recommendations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99"/>
                </a:solidFill>
              </a:defRPr>
            </a:pPr>
            <a:r>
              <a:t>Team Structure and Communication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7554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Team Composition: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Clear role definition and responsibilities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Communication Plan: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Daily: Slack for quick updates and questions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Weekly: 30-minute sync meeting for progress review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Documentation: Shared Google Drive for artifacts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Collaboration Tools: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GitHub for code repository and version control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Notion for project planning and task tracking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Google </a:t>
            </a:r>
            <a:r>
              <a:rPr sz="1600" dirty="0" err="1"/>
              <a:t>Colab</a:t>
            </a:r>
            <a:r>
              <a:rPr sz="1600" dirty="0"/>
              <a:t> for shared experimentation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Risk Management: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API rate limits: Implement exponential backoff</a:t>
            </a:r>
          </a:p>
          <a:p>
            <a:pPr lvl="1"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sz="1600" dirty="0"/>
              <a:t>  Budget overrun: Leverage free tiers and caching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99"/>
                </a:solidFill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188720"/>
            <a:ext cx="7863840" cy="5191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Key questions for discussion: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Q: Why focus on JSON extraction and Q&amp;A tasks?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A: Structured output and factual accuracy are production priorities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Q: Why these four specific models?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A: Balanced commercial vs open-source comparison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Q: How do you ensure reproducibility?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A: Fixed random seeds, comprehensive caching, version control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Q: What if API costs exceed budget?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A: Free tier utilization, aggressive caching, phased execution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Q: How will success be measured?</a:t>
            </a:r>
          </a:p>
          <a:p>
            <a:pPr>
              <a:spcBef>
                <a:spcPts val="800"/>
              </a:spcBef>
              <a:spcAft>
                <a:spcPts val="800"/>
              </a:spcAft>
              <a:defRPr sz="1800">
                <a:solidFill>
                  <a:srgbClr val="000000"/>
                </a:solidFill>
              </a:defRPr>
            </a:pPr>
            <a:r>
              <a:rPr dirty="0"/>
              <a:t>A: Variance metrics, benchmark completion, actionable insights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F8120-65F5-3C57-6215-B75AB4B3A7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B939673-F04C-06D9-31B8-D21F73FF6896}"/>
              </a:ext>
            </a:extLst>
          </p:cNvPr>
          <p:cNvSpPr txBox="1"/>
          <p:nvPr/>
        </p:nvSpPr>
        <p:spPr>
          <a:xfrm>
            <a:off x="457200" y="274320"/>
            <a:ext cx="7863840" cy="40318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3399"/>
                </a:solidFill>
              </a:defRPr>
            </a:pPr>
            <a:endParaRPr lang="en-US" dirty="0"/>
          </a:p>
          <a:p>
            <a:pPr algn="ctr">
              <a:defRPr sz="3200" b="1">
                <a:solidFill>
                  <a:srgbClr val="003399"/>
                </a:solidFill>
              </a:defRPr>
            </a:pPr>
            <a:endParaRPr lang="en-US" dirty="0"/>
          </a:p>
          <a:p>
            <a:pPr algn="ctr">
              <a:defRPr sz="3200" b="1">
                <a:solidFill>
                  <a:srgbClr val="003399"/>
                </a:solidFill>
              </a:defRPr>
            </a:pPr>
            <a:endParaRPr lang="en-US" dirty="0"/>
          </a:p>
          <a:p>
            <a:pPr algn="ctr">
              <a:defRPr sz="3200" b="1">
                <a:solidFill>
                  <a:srgbClr val="003399"/>
                </a:solidFill>
              </a:defRPr>
            </a:pPr>
            <a:endParaRPr lang="en-US" dirty="0"/>
          </a:p>
          <a:p>
            <a:pPr algn="ctr">
              <a:defRPr sz="3200" b="1">
                <a:solidFill>
                  <a:srgbClr val="003399"/>
                </a:solidFill>
              </a:defRPr>
            </a:pPr>
            <a:endParaRPr lang="en-US" dirty="0"/>
          </a:p>
          <a:p>
            <a:pPr algn="ctr">
              <a:defRPr sz="3200" b="1">
                <a:solidFill>
                  <a:srgbClr val="003399"/>
                </a:solidFill>
              </a:defRPr>
            </a:pPr>
            <a:endParaRPr lang="en-US" dirty="0"/>
          </a:p>
          <a:p>
            <a:pPr algn="ctr">
              <a:defRPr sz="3200" b="1">
                <a:solidFill>
                  <a:srgbClr val="003399"/>
                </a:solidFill>
              </a:defRPr>
            </a:pPr>
            <a:r>
              <a:rPr lang="en-US" dirty="0"/>
              <a:t>Thank You!</a:t>
            </a:r>
            <a:br>
              <a:rPr lang="en-US" dirty="0"/>
            </a:br>
            <a:r>
              <a:rPr lang="en-US" dirty="0"/>
              <a:t>Any Questions???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48934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679</Words>
  <Application>Microsoft Office PowerPoint</Application>
  <PresentationFormat>On-screen Show (4:3)</PresentationFormat>
  <Paragraphs>118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Balaji Shiva</cp:lastModifiedBy>
  <cp:revision>2</cp:revision>
  <dcterms:created xsi:type="dcterms:W3CDTF">2013-01-27T09:14:16Z</dcterms:created>
  <dcterms:modified xsi:type="dcterms:W3CDTF">2026-02-24T03:28:40Z</dcterms:modified>
  <cp:category/>
</cp:coreProperties>
</file>